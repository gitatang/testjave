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2025年度年终总结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北京艾棋_M9_技术部_汤松杰</a:t>
            </a:r>
          </a:p>
          <a:p>
            <a:pPr marL="3657600" lvl="8" indent="457200"/>
            <a:r>
              <a:rPr lang="en-US"/>
              <a:t>                                                       </a:t>
            </a: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394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• 年度工作概述</a:t>
            </a:r>
          </a:p>
          <a:p>
            <a:pPr>
              <a:spcAft>
                <a:spcPts val="1000"/>
              </a:spcAft>
              <a:defRPr sz="2400"/>
            </a:pPr>
            <a:r>
              <a:t>• Q1（</a:t>
            </a:r>
            <a:r>
              <a:rPr lang="en-US"/>
              <a:t>2</a:t>
            </a:r>
            <a:r>
              <a:t>-</a:t>
            </a:r>
            <a:r>
              <a:rPr lang="en-US"/>
              <a:t>4</a:t>
            </a:r>
            <a:r>
              <a:t>月）基础服务建设</a:t>
            </a:r>
          </a:p>
          <a:p>
            <a:pPr>
              <a:spcAft>
                <a:spcPts val="1000"/>
              </a:spcAft>
              <a:defRPr sz="2400"/>
            </a:pPr>
            <a:r>
              <a:t>• Q2（</a:t>
            </a:r>
            <a:r>
              <a:rPr lang="en-US"/>
              <a:t>5</a:t>
            </a:r>
            <a:r>
              <a:t>-</a:t>
            </a:r>
            <a:r>
              <a:rPr lang="en-US"/>
              <a:t>7</a:t>
            </a:r>
            <a:r>
              <a:t>月）核心模块开发</a:t>
            </a:r>
          </a:p>
          <a:p>
            <a:pPr>
              <a:spcAft>
                <a:spcPts val="1000"/>
              </a:spcAft>
              <a:defRPr sz="2400"/>
            </a:pPr>
            <a:r>
              <a:t>• Q3（</a:t>
            </a:r>
            <a:r>
              <a:rPr lang="en-US"/>
              <a:t>8</a:t>
            </a:r>
            <a:r>
              <a:t>-</a:t>
            </a:r>
            <a:r>
              <a:rPr lang="en-US"/>
              <a:t>10</a:t>
            </a:r>
            <a:r>
              <a:t>月）服务优化与集成</a:t>
            </a:r>
          </a:p>
          <a:p>
            <a:pPr>
              <a:spcAft>
                <a:spcPts val="1000"/>
              </a:spcAft>
              <a:defRPr sz="2400"/>
            </a:pPr>
            <a:r>
              <a:t>• Q4（1</a:t>
            </a:r>
            <a:r>
              <a:rPr lang="en-US"/>
              <a:t>1</a:t>
            </a:r>
            <a:r>
              <a:t>-1月）监控体系建设</a:t>
            </a:r>
          </a:p>
          <a:p>
            <a:pPr>
              <a:spcAft>
                <a:spcPts val="1000"/>
              </a:spcAft>
              <a:defRPr sz="2400"/>
            </a:pPr>
            <a:r>
              <a:t>• 年度成长与进步</a:t>
            </a:r>
          </a:p>
          <a:p>
            <a:pPr>
              <a:spcAft>
                <a:spcPts val="1000"/>
              </a:spcAft>
              <a:defRPr sz="2400"/>
            </a:pPr>
            <a:r>
              <a:t>• 待提高项</a:t>
            </a:r>
          </a:p>
          <a:p>
            <a:pPr>
              <a:spcAft>
                <a:spcPts val="1000"/>
              </a:spcAft>
              <a:defRPr sz="2400"/>
            </a:pPr>
            <a:r>
              <a:t>• 2026年度规划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年度工作概述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24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【核心服务】完成M9项目多个核心服务的开发与维护</a:t>
            </a:r>
          </a:p>
          <a:p>
            <a:pPr>
              <a:spcAft>
                <a:spcPts val="1000"/>
              </a:spcAft>
              <a:defRPr sz="1900"/>
            </a:pPr>
            <a:r>
              <a:t>2.   Push服务、Rank服、广播服、背包服、任务服、工具服</a:t>
            </a:r>
          </a:p>
          <a:p>
            <a:pPr>
              <a:spcAft>
                <a:spcPts val="1000"/>
              </a:spcAft>
              <a:defRPr sz="1900"/>
            </a:pPr>
            <a:r>
              <a:rPr lang="en-US"/>
              <a:t>3</a:t>
            </a:r>
            <a:r>
              <a:t>. 【系统集成】完成A8平台短信、邮件发送能力集成</a:t>
            </a:r>
          </a:p>
          <a:p>
            <a:pPr>
              <a:spcAft>
                <a:spcPts val="1000"/>
              </a:spcAft>
              <a:defRPr sz="1900"/>
            </a:pPr>
            <a:r>
              <a:rPr lang="en-US"/>
              <a:t>4</a:t>
            </a:r>
            <a:r>
              <a:t>. 【新模块开发】M9俱乐部服务从0到1开发完成</a:t>
            </a:r>
          </a:p>
          <a:p>
            <a:pPr>
              <a:spcAft>
                <a:spcPts val="1000"/>
              </a:spcAft>
              <a:defRPr sz="1900"/>
            </a:pPr>
            <a:r>
              <a:rPr lang="en-US"/>
              <a:t>5</a:t>
            </a:r>
            <a:r>
              <a:t>. 【监控体系】构建M9项目监控服务体系，完成上报接口与多渠道告警 </a:t>
            </a:r>
          </a:p>
          <a:p>
            <a:pPr>
              <a:spcAft>
                <a:spcPts val="1000"/>
              </a:spcAft>
              <a:defRPr sz="1900"/>
            </a:pPr>
            <a:r>
              <a:rPr lang="en-US"/>
              <a:t>6</a:t>
            </a:r>
            <a:r>
              <a:t>. 【技术成长】形成"分析-设计-开发"标准化工作流程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453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Q1（</a:t>
            </a:r>
            <a:r>
              <a:rPr lang="en-US"/>
              <a:t>2</a:t>
            </a:r>
            <a:r>
              <a:t>-</a:t>
            </a:r>
            <a:r>
              <a:rPr lang="en-US"/>
              <a:t>4</a:t>
            </a:r>
            <a:r>
              <a:t>月）工作总览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01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zh-CN"/>
              <a:t>一</a:t>
            </a:r>
            <a:r>
              <a:t>. 【Push服务】邮箱验证码发送功能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 基于RocketMQ监听消息发送邮件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</a:t>
            </a:r>
            <a:r>
              <a:rPr lang="en-US"/>
              <a:t>  </a:t>
            </a:r>
            <a:r>
              <a:t>支持多语言自定义邮箱发送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二</a:t>
            </a:r>
            <a:r>
              <a:rPr lang="en-US" altLang="zh-CN"/>
              <a:t>.</a:t>
            </a:r>
            <a:r>
              <a:t> 【Rank服】排行榜服务开发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</a:t>
            </a:r>
            <a:r>
              <a:rPr lang="en-US"/>
              <a:t> </a:t>
            </a:r>
            <a:r>
              <a:t>多参数综合排序（段位、星级、积分）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支持排行类型扩展和分区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  Redis+MySQL双重存储，支持热更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三</a:t>
            </a:r>
            <a:r>
              <a:t>. 【广播服】公告模块开发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后台配置、定时刷新、多语言支持</a:t>
            </a:r>
          </a:p>
          <a:p>
            <a:pPr indent="457200">
              <a:spcAft>
                <a:spcPts val="1000"/>
              </a:spcAft>
              <a:defRPr sz="1800"/>
            </a:pPr>
            <a:r>
              <a:t>2.   红点提示机制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Q1详细：Rank服排行榜服务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✅ 多参数排序：支持按段位、星级、积分综合排序</a:t>
            </a:r>
          </a:p>
          <a:p>
            <a:pPr>
              <a:spcAft>
                <a:spcPts val="1000"/>
              </a:spcAft>
              <a:defRPr sz="1900"/>
            </a:pPr>
            <a:r>
              <a:t>2. ✅ 类型扩展：可通过添加配置和表的方式扩展多种排行榜</a:t>
            </a:r>
          </a:p>
          <a:p>
            <a:pPr>
              <a:spcAft>
                <a:spcPts val="1000"/>
              </a:spcAft>
              <a:defRPr sz="1900"/>
            </a:pPr>
            <a:r>
              <a:t>3. ✅ 分区规则：编写快速分区规则，将玩家快速完成分区</a:t>
            </a:r>
          </a:p>
          <a:p>
            <a:pPr>
              <a:spcAft>
                <a:spcPts val="1000"/>
              </a:spcAft>
              <a:defRPr sz="1900"/>
            </a:pPr>
            <a:r>
              <a:t>4. ✅ 数据落地：排行榜数据落地到MySQL</a:t>
            </a:r>
          </a:p>
          <a:p>
            <a:pPr>
              <a:spcAft>
                <a:spcPts val="1000"/>
              </a:spcAft>
              <a:defRPr sz="1900"/>
            </a:pPr>
            <a:r>
              <a:t>5. ✅ 容灾机制：Redis崩溃或数据丢失时，可通过热更方式重新加载数据，无需重启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Q1详细：广播服公告模块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✅ 开发公告模块：设计公告配置表，支持后台添加后定时刷新到服务器</a:t>
            </a:r>
          </a:p>
          <a:p>
            <a:pPr>
              <a:spcAft>
                <a:spcPts val="1000"/>
              </a:spcAft>
              <a:defRPr sz="1900"/>
            </a:pPr>
            <a:r>
              <a:t>2. ✅ 多语言支持：公告支持多语言选择</a:t>
            </a:r>
          </a:p>
          <a:p>
            <a:pPr>
              <a:spcAft>
                <a:spcPts val="1000"/>
              </a:spcAft>
              <a:defRPr sz="1900"/>
            </a:pPr>
            <a:r>
              <a:t>3. ✅ 自定义排序：支持公告自定义排序规则</a:t>
            </a:r>
          </a:p>
          <a:p>
            <a:pPr>
              <a:spcAft>
                <a:spcPts val="1000"/>
              </a:spcAft>
              <a:defRPr sz="1900"/>
            </a:pPr>
            <a:r>
              <a:t>4. ✅ 读取记录：实现玩家读取公告后保存记录</a:t>
            </a:r>
          </a:p>
          <a:p>
            <a:pPr>
              <a:spcAft>
                <a:spcPts val="1000"/>
              </a:spcAft>
              <a:defRPr sz="1900"/>
            </a:pPr>
            <a:r>
              <a:t>5. ✅ 红点提示：支持前端显示未读取的红点提示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453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Q2（</a:t>
            </a:r>
            <a:r>
              <a:rPr lang="en-US"/>
              <a:t>5</a:t>
            </a:r>
            <a:r>
              <a:t>-</a:t>
            </a:r>
            <a:r>
              <a:rPr lang="en-US"/>
              <a:t>7</a:t>
            </a:r>
            <a:r>
              <a:t>月）工作总览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360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zh-CN"/>
              <a:t>一</a:t>
            </a:r>
            <a:r>
              <a:t>. 【背包服】商城与背包系统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商城物品配置、购买兑换、背包查询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真实充值物品更新、订单退款处理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二</a:t>
            </a:r>
            <a:r>
              <a:t>. 【任务服】任务、成就、通行证系统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.任务列表、成就系统、通行证完整开发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MQ事件驱动、多语言支持、充值激活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三</a:t>
            </a:r>
            <a:r>
              <a:t>. 【工具服】实用组件开发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1.胜率计算器、记分牌组件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四</a:t>
            </a:r>
            <a:r>
              <a:t>. 【红点服】红点服务接入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Q2详细：背包服商城系统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1. ✅ 商城配置：支持添加删除商城物品，支持多语言</a:t>
            </a:r>
          </a:p>
          <a:p>
            <a:pPr>
              <a:spcAft>
                <a:spcPts val="1000"/>
              </a:spcAft>
              <a:defRPr sz="1700"/>
            </a:pPr>
            <a:r>
              <a:t>2. ✅ 购买限制：商品支持限制购买数量，支持多种刷新方式（不刷新/每日/每周/每月）</a:t>
            </a:r>
          </a:p>
          <a:p>
            <a:pPr>
              <a:spcAft>
                <a:spcPts val="1000"/>
              </a:spcAft>
              <a:defRPr sz="1700"/>
            </a:pPr>
            <a:r>
              <a:t>3. ✅ 上架下架：支持上架下架删除和开放时间限制</a:t>
            </a:r>
          </a:p>
          <a:p>
            <a:pPr>
              <a:spcAft>
                <a:spcPts val="1000"/>
              </a:spcAft>
              <a:defRPr sz="1700"/>
            </a:pPr>
            <a:r>
              <a:t>4. ✅ 物品有效期：可以配置物品有效期</a:t>
            </a:r>
          </a:p>
          <a:p>
            <a:pPr>
              <a:spcAft>
                <a:spcPts val="1000"/>
              </a:spcAft>
              <a:defRPr sz="1700"/>
            </a:pPr>
            <a:r>
              <a:t>5. ✅ 金块商店：支持金块（一级货币）购买</a:t>
            </a:r>
          </a:p>
          <a:p>
            <a:pPr>
              <a:spcAft>
                <a:spcPts val="1000"/>
              </a:spcAft>
              <a:defRPr sz="1700"/>
            </a:pPr>
            <a:r>
              <a:t>6. ✅ 充值接口：提供真实充值后背包物品更新接口</a:t>
            </a:r>
          </a:p>
          <a:p>
            <a:pPr>
              <a:spcAft>
                <a:spcPts val="1000"/>
              </a:spcAft>
              <a:defRPr sz="1700"/>
            </a:pPr>
            <a:r>
              <a:t>7. ✅ 订单处理：判断同一订单是否多次发放，支持交易退款返还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Q2详细：任务服任务与通行证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✅ 任务系统：支持多语言、前置任务、刷新类型、开始结束时间</a:t>
            </a:r>
          </a:p>
          <a:p>
            <a:pPr>
              <a:spcAft>
                <a:spcPts val="1000"/>
              </a:spcAft>
              <a:defRPr sz="1800"/>
            </a:pPr>
            <a:r>
              <a:t>2. ✅ 成就系统：配置化管理，支持上线下架、时间控制</a:t>
            </a:r>
          </a:p>
          <a:p>
            <a:pPr>
              <a:spcAft>
                <a:spcPts val="1000"/>
              </a:spcAft>
              <a:defRPr sz="1800"/>
            </a:pPr>
            <a:r>
              <a:t>3. ✅ MQ事件：完成事件MQ，分析消息添加任务/成就进度，更新记录最大值</a:t>
            </a:r>
          </a:p>
          <a:p>
            <a:pPr>
              <a:spcAft>
                <a:spcPts val="1000"/>
              </a:spcAft>
              <a:defRPr sz="1800"/>
            </a:pPr>
            <a:r>
              <a:t>4. ✅ 通行证系统：完整通行证功能，支持充值激活、购买等级</a:t>
            </a:r>
          </a:p>
          <a:p>
            <a:pPr>
              <a:spcAft>
                <a:spcPts val="1000"/>
              </a:spcAft>
              <a:defRPr sz="1800"/>
            </a:pPr>
            <a:r>
              <a:t>5. ✅ 奖励领取：完成任务/成就/通行证可领取对应奖励</a:t>
            </a:r>
          </a:p>
          <a:p>
            <a:pPr>
              <a:spcAft>
                <a:spcPts val="1000"/>
              </a:spcAft>
              <a:defRPr sz="1800"/>
            </a:pPr>
            <a:r>
              <a:t>6. ✅ 周期重启：通行证结束后可重新开始，重新领奖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Q2详细：工具服实用组件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320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✅ 胜率计算器：单机版胜率计算组件</a:t>
            </a:r>
          </a:p>
          <a:p>
            <a:pPr>
              <a:spcAft>
                <a:spcPts val="1000"/>
              </a:spcAft>
              <a:defRPr sz="1800"/>
            </a:pPr>
            <a:r>
              <a:t>2. </a:t>
            </a:r>
            <a:r>
              <a:rPr>
                <a:sym typeface="+mn-ea"/>
              </a:rPr>
              <a:t>✅ </a:t>
            </a:r>
            <a:r>
              <a:t>玩家可自主添加底牌和手牌计算胜率</a:t>
            </a:r>
          </a:p>
          <a:p>
            <a:pPr>
              <a:spcAft>
                <a:spcPts val="1000"/>
              </a:spcAft>
              <a:defRPr sz="1800"/>
            </a:pPr>
            <a:r>
              <a:t>3. </a:t>
            </a:r>
            <a:r>
              <a:rPr>
                <a:sym typeface="+mn-ea"/>
              </a:rPr>
              <a:t>✅ </a:t>
            </a:r>
            <a:r>
              <a:t>支持选择器计算范围胜率和名次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4</a:t>
            </a:r>
            <a:r>
              <a:t>. ✅ 记分牌组件：对局筹码变化与数据统计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5</a:t>
            </a:r>
            <a:r>
              <a:t>. </a:t>
            </a:r>
            <a:r>
              <a:rPr>
                <a:sym typeface="+mn-ea"/>
              </a:rPr>
              <a:t>✅ </a:t>
            </a:r>
            <a:r>
              <a:t>添加玩家、创建对局、模拟初始筹码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6</a:t>
            </a:r>
            <a:r>
              <a:t>.</a:t>
            </a:r>
            <a:r>
              <a:rPr lang="en-US"/>
              <a:t> </a:t>
            </a:r>
            <a:r>
              <a:rPr>
                <a:sym typeface="+mn-ea"/>
              </a:rPr>
              <a:t>✅ </a:t>
            </a:r>
            <a:r>
              <a:t>统计进出筹码，计算总计筹码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7</a:t>
            </a:r>
            <a:r>
              <a:t>. </a:t>
            </a:r>
            <a:r>
              <a:rPr>
                <a:sym typeface="+mn-ea"/>
              </a:rPr>
              <a:t>✅ </a:t>
            </a:r>
            <a:r>
              <a:t>统计局数、查看详情、时间查询、操作记录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8</a:t>
            </a:r>
            <a:r>
              <a:t>. ✅ 红点服务：公告、任务、成就、通行证模块红点推送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7771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Q3（</a:t>
            </a:r>
            <a:r>
              <a:rPr lang="en-US"/>
              <a:t>8</a:t>
            </a:r>
            <a:r>
              <a:t>-</a:t>
            </a:r>
            <a:r>
              <a:rPr lang="en-US"/>
              <a:t>10</a:t>
            </a:r>
            <a:r>
              <a:t>月）工作成果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320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✅ M9俱乐部服务：完成开发、测试及生产环境部署，服务运行平稳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✅ M9VIP任务模块：顺利完成开发、测试及部署全流程，正式投入运营 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✅ Bug修复：测试阶段反馈的Bug全部修复并验证，代码已更新 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4</a:t>
            </a:r>
            <a:r>
              <a:t>. ✅ Push服务集成：成功集成A8的短信与邮件发送能力，功能开发联调完毕 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5</a:t>
            </a:r>
            <a:r>
              <a:t>. 📈 工作方法转变：形成"分析-设计-开发"标准化流程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      </a:t>
            </a:r>
            <a:r>
              <a:t>   - 首先深入分析需求本质并评估扩展性</a:t>
            </a:r>
          </a:p>
          <a:p>
            <a:pPr>
              <a:spcAft>
                <a:spcPts val="1000"/>
              </a:spcAft>
              <a:defRPr sz="1800"/>
            </a:pPr>
            <a:r>
              <a:t> </a:t>
            </a:r>
            <a:r>
              <a:rPr lang="en-US"/>
              <a:t>     </a:t>
            </a:r>
            <a:r>
              <a:t>   - 然后进行服务抽象与接口设计</a:t>
            </a:r>
          </a:p>
          <a:p>
            <a:pPr>
              <a:spcAft>
                <a:spcPts val="1000"/>
              </a:spcAft>
              <a:defRPr sz="1800"/>
            </a:pPr>
            <a:r>
              <a:rPr lang="en-US"/>
              <a:t>      </a:t>
            </a:r>
            <a:r>
              <a:t>   - 最后进入开发阶段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7771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Q4（1</a:t>
            </a:r>
            <a:r>
              <a:rPr lang="en-US"/>
              <a:t>1</a:t>
            </a:r>
            <a:r>
              <a:t>-1月）工作成果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3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1. 【监控服务】从0到1构建监控服务系统</a:t>
            </a:r>
          </a:p>
          <a:p>
            <a:pPr>
              <a:spcAft>
                <a:spcPts val="1000"/>
              </a:spcAft>
              <a:defRPr sz="1700"/>
            </a:pPr>
            <a:r>
              <a:t>2.   ✅ 完成上报接口开发，其他服务可上报错误信息</a:t>
            </a:r>
          </a:p>
          <a:p>
            <a:pPr>
              <a:spcAft>
                <a:spcPts val="1000"/>
              </a:spcAft>
              <a:defRPr sz="1700"/>
            </a:pPr>
            <a:r>
              <a:t>3.   ✅ 支持单个或多个接收人配置</a:t>
            </a:r>
          </a:p>
          <a:p>
            <a:pPr>
              <a:spcAft>
                <a:spcPts val="1000"/>
              </a:spcAft>
              <a:defRPr sz="1700"/>
            </a:pPr>
            <a:r>
              <a:t>4.   ✅ 集成6种通知渠道：短信、邮箱、钉钉、飞书、Lark、Telegram</a:t>
            </a:r>
          </a:p>
          <a:p>
            <a:pPr>
              <a:spcAft>
                <a:spcPts val="1000"/>
              </a:spcAft>
              <a:defRPr sz="1700"/>
            </a:pPr>
            <a:r>
              <a:t>5.   ✅ 根据配置将告警消息发送给指定负责人</a:t>
            </a:r>
          </a:p>
          <a:p>
            <a:pPr>
              <a:spcAft>
                <a:spcPts val="1000"/>
              </a:spcAft>
              <a:defRPr sz="1700"/>
            </a:pPr>
            <a:r>
              <a:t>7. 【俱乐部服务优化】7项功能新增</a:t>
            </a:r>
          </a:p>
          <a:p>
            <a:pPr>
              <a:spcAft>
                <a:spcPts val="1000"/>
              </a:spcAft>
              <a:defRPr sz="1700"/>
            </a:pPr>
            <a:r>
              <a:t>8.   ✅ 模糊查询俱乐部及成员</a:t>
            </a:r>
          </a:p>
          <a:p>
            <a:pPr>
              <a:spcAft>
                <a:spcPts val="1000"/>
              </a:spcAft>
              <a:defRPr sz="1700"/>
            </a:pPr>
            <a:r>
              <a:t>9.   ✅ 自定义俱乐部排序规则</a:t>
            </a:r>
          </a:p>
          <a:p>
            <a:pPr>
              <a:spcAft>
                <a:spcPts val="1000"/>
              </a:spcAft>
              <a:defRPr sz="1700"/>
            </a:pPr>
            <a:r>
              <a:t>10.   ✅ 配置用户创建俱乐部数量上限</a:t>
            </a:r>
          </a:p>
          <a:p>
            <a:pPr>
              <a:spcAft>
                <a:spcPts val="1000"/>
              </a:spcAft>
              <a:defRPr sz="1700"/>
            </a:pPr>
            <a:r>
              <a:t>11.   ✅ 俱乐部成员自定义排序</a:t>
            </a:r>
          </a:p>
          <a:p>
            <a:pPr>
              <a:spcAft>
                <a:spcPts val="1000"/>
              </a:spcAft>
              <a:defRPr sz="1700"/>
            </a:pPr>
            <a:r>
              <a:t>12.   ✅ 自动审批开关</a:t>
            </a:r>
          </a:p>
          <a:p>
            <a:pPr>
              <a:spcAft>
                <a:spcPts val="1000"/>
              </a:spcAft>
              <a:defRPr sz="1700"/>
            </a:pPr>
            <a:r>
              <a:t>13.   ✅ 红点提示及刷新机制优化 </a:t>
            </a:r>
          </a:p>
          <a:p>
            <a:pPr>
              <a:spcAft>
                <a:spcPts val="1000"/>
              </a:spcAft>
              <a:defRPr sz="1700"/>
            </a:pPr>
            <a:r>
              <a:t>1</a:t>
            </a:r>
            <a:r>
              <a:rPr lang="en-US"/>
              <a:t>4</a:t>
            </a:r>
            <a:r>
              <a:t>. 【质量保障】修复线上已知Bug，跟进处理Bug清单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年度成长与进步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420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zh-CN"/>
              <a:t>一</a:t>
            </a:r>
            <a:r>
              <a:t>. 【思维模式转变】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从"接到需求即编码"转变为"分析-设计-开发"标准化流程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解构需求本质，评估长期扩展性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  - 进行服务抽象与接口契约设计，明确系统边界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二</a:t>
            </a:r>
            <a:r>
              <a:t>. 【沟通协作提升】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养成对模糊需求主动澄清的习惯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优先向相关同事或产品经理请教，确保理解一致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  - 有效避免因信息偏差导致的返工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三</a:t>
            </a:r>
            <a:r>
              <a:t>. 【工具应用探索】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- 开始探索AI工具在开发工作流中的应用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技术方案咨询、单元测试/样板代码生成、日志分析等场景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待提高项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3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zh-CN"/>
              <a:t>一</a:t>
            </a:r>
            <a:r>
              <a:t>. 【技术深度】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边界情况和极限情况考虑不够清晰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需要更深入思考技术方案的简洁性和有效性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二</a:t>
            </a:r>
            <a:r>
              <a:t>. 【工具使用平衡】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曾经过度依赖AI生成代码，未充分批判性评估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导致采用过度设计、不符合"简单有效"原则的方案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  - 认识到工具价值在于拓展思路，而非替代思考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三</a:t>
            </a:r>
            <a:r>
              <a:t>. 【创新精神】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- 面对常规任务时，主动挑战的锐气和探索精神不足</a:t>
            </a:r>
          </a:p>
          <a:p>
            <a:pPr indent="457200">
              <a:spcAft>
                <a:spcPts val="1000"/>
              </a:spcAft>
              <a:defRPr sz="1800"/>
            </a:pPr>
            <a:r>
              <a:t>2.   - 需要从"完成开发"转向"创造价值"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四</a:t>
            </a:r>
            <a:r>
              <a:t>. 【需求理解】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- 项目需求需要全面了解和深挖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多数精力聚焦于"交付"，未深入思考迭代和优化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2026年度规划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63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zh-CN"/>
              <a:t>一</a:t>
            </a:r>
            <a:r>
              <a:t>. 【AI应用深化】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将AI应用场景化、习惯化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重点场景：技术方案咨询、单元测试生成、日志分析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3</a:t>
            </a:r>
            <a:r>
              <a:t>.   - 季度末复盘提效效果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二</a:t>
            </a:r>
            <a:r>
              <a:t>. 【思维转变】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1</a:t>
            </a:r>
            <a:r>
              <a:t>.   - 从"完成开发"转向"创造价值"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通过深度参与提升工作投入感和成就感 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三</a:t>
            </a:r>
            <a:r>
              <a:t>. 【技术方案优化】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- 在技术方案决策与工具辅助之间找到平衡</a:t>
            </a:r>
          </a:p>
          <a:p>
            <a:pPr indent="457200">
              <a:spcAft>
                <a:spcPts val="1000"/>
              </a:spcAft>
              <a:defRPr sz="1800"/>
            </a:pPr>
            <a:r>
              <a:t>2.   - 对AI输出进行批判性评估与简化重构</a:t>
            </a:r>
          </a:p>
          <a:p>
            <a:pPr indent="457200">
              <a:spcAft>
                <a:spcPts val="1000"/>
              </a:spcAft>
              <a:defRPr sz="1800"/>
            </a:pPr>
            <a:r>
              <a:t>3.   - 坚持"简单有效"原则，避免过度设计</a:t>
            </a:r>
          </a:p>
          <a:p>
            <a:pPr>
              <a:spcAft>
                <a:spcPts val="1000"/>
              </a:spcAft>
              <a:defRPr sz="1800"/>
            </a:pPr>
            <a:r>
              <a:rPr lang="zh-CN"/>
              <a:t>四</a:t>
            </a:r>
            <a:r>
              <a:t>. 【持续改进】</a:t>
            </a:r>
          </a:p>
          <a:p>
            <a:pPr indent="457200">
              <a:spcAft>
                <a:spcPts val="1000"/>
              </a:spcAft>
              <a:defRPr sz="1800"/>
            </a:pPr>
            <a:r>
              <a:t>1.   - 深入思考怎么更便于迭代和优化</a:t>
            </a:r>
          </a:p>
          <a:p>
            <a:pPr indent="457200">
              <a:spcAft>
                <a:spcPts val="1000"/>
              </a:spcAft>
              <a:defRPr sz="1800"/>
            </a:pPr>
            <a:r>
              <a:rPr lang="en-US"/>
              <a:t>2</a:t>
            </a:r>
            <a:r>
              <a:t>.   - 不止于交付，更要关注长期价值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期待2026年再创佳绩！</a:t>
            </a:r>
          </a:p>
          <a:p>
            <a:pPr algn="ctr">
              <a:defRPr sz="2200">
                <a:solidFill>
                  <a:srgbClr val="444444"/>
                </a:solidFill>
              </a:defRPr>
            </a:pPr>
            <a:r>
              <a:t>从"完成"到"创造"，持续成长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3007</Words>
  <Application>WPS 演示</Application>
  <PresentationFormat>On-screen Show (4:3)</PresentationFormat>
  <Paragraphs>175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80447</cp:lastModifiedBy>
  <cp:revision>14</cp:revision>
  <dcterms:created xsi:type="dcterms:W3CDTF">2013-01-27T09:14:00Z</dcterms:created>
  <dcterms:modified xsi:type="dcterms:W3CDTF">2026-02-03T02:07:38Z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912C750DE00B4DECB71E511376FAC6AC_12</vt:lpwstr>
  </property>
  <property fmtid="{D5CDD505-2E9C-101B-9397-08002B2CF9AE}" pid="3" name="KSOProductBuildVer">
    <vt:lpwstr>2052-12.1.0.24657</vt:lpwstr>
  </property>
</Properties>
</file>